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70" r:id="rId14"/>
    <p:sldId id="276" r:id="rId15"/>
    <p:sldId id="277" r:id="rId16"/>
    <p:sldId id="279" r:id="rId17"/>
  </p:sldIdLst>
  <p:sldSz cx="9144000" cy="5143500" type="screen16x9"/>
  <p:notesSz cx="6858000" cy="9144000"/>
  <p:embeddedFontLst>
    <p:embeddedFont>
      <p:font typeface="Merriweather" panose="00000500000000000000" pitchFamily="2" charset="0"/>
      <p:regular r:id="rId19"/>
      <p:bold r:id="rId20"/>
      <p:italic r:id="rId21"/>
      <p:boldItalic r:id="rId22"/>
    </p:embeddedFont>
    <p:embeddedFont>
      <p:font typeface="Roboto" panose="02000000000000000000"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B828CDD-8E2C-4306-B83F-5B825E94FB31}">
  <a:tblStyle styleId="{5B828CDD-8E2C-4306-B83F-5B825E94FB3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780" y="6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309b18b374_0_5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309b18b374_0_5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31720ee68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31720ee68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309b18b374_0_5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309b18b374_0_5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309b18b374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309b18b374_0_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309b18b374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309b18b374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35105c9073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35105c9073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343f16771d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343f16771d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35105c9073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35105c9073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343f16771d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343f16771d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35105c9073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335105c9073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343f16771d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43f16771d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35105c9073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35105c907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35105c9073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35105c9073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34cd8079a3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34cd8079a3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35105c9073_0_2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35105c9073_0_2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p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9" name="Google Shape;39;p7"/>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rgbClr val="E0666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0.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p:nvPr>
        </p:nvSpPr>
        <p:spPr>
          <a:xfrm>
            <a:off x="217233" y="251150"/>
            <a:ext cx="8520600" cy="20526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t>Zomato Sales Analysis</a:t>
            </a:r>
            <a:endParaRPr dirty="0"/>
          </a:p>
          <a:p>
            <a:pPr marL="0" lvl="0" indent="0" algn="ctr" rtl="0">
              <a:spcBef>
                <a:spcPts val="0"/>
              </a:spcBef>
              <a:spcAft>
                <a:spcPts val="0"/>
              </a:spcAft>
              <a:buNone/>
            </a:pPr>
            <a:r>
              <a:rPr lang="en-GB" sz="1900" dirty="0"/>
              <a:t> </a:t>
            </a:r>
            <a:r>
              <a:rPr lang="en-GB" sz="1900"/>
              <a:t>Abhishek Kunwar</a:t>
            </a:r>
            <a:endParaRPr sz="1900" dirty="0"/>
          </a:p>
        </p:txBody>
      </p:sp>
      <p:pic>
        <p:nvPicPr>
          <p:cNvPr id="65" name="Google Shape;65;p13"/>
          <p:cNvPicPr preferRelativeResize="0"/>
          <p:nvPr/>
        </p:nvPicPr>
        <p:blipFill rotWithShape="1">
          <a:blip r:embed="rId3">
            <a:alphaModFix/>
          </a:blip>
          <a:srcRect t="14059" r="50636"/>
          <a:stretch/>
        </p:blipFill>
        <p:spPr>
          <a:xfrm>
            <a:off x="2791200" y="2571750"/>
            <a:ext cx="3561598" cy="2593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A9999"/>
        </a:solidFill>
        <a:effectLst/>
      </p:bgPr>
    </p:bg>
    <p:spTree>
      <p:nvGrpSpPr>
        <p:cNvPr id="1" name="Shape 69"/>
        <p:cNvGrpSpPr/>
        <p:nvPr/>
      </p:nvGrpSpPr>
      <p:grpSpPr>
        <a:xfrm>
          <a:off x="0" y="0"/>
          <a:ext cx="0" cy="0"/>
          <a:chOff x="0" y="0"/>
          <a:chExt cx="0" cy="0"/>
        </a:xfrm>
      </p:grpSpPr>
      <p:pic>
        <p:nvPicPr>
          <p:cNvPr id="70" name="Google Shape;70;p14"/>
          <p:cNvPicPr preferRelativeResize="0"/>
          <p:nvPr/>
        </p:nvPicPr>
        <p:blipFill>
          <a:blip r:embed="rId3">
            <a:alphaModFix/>
          </a:blip>
          <a:stretch>
            <a:fillRect/>
          </a:stretch>
        </p:blipFill>
        <p:spPr>
          <a:xfrm>
            <a:off x="1128725" y="698300"/>
            <a:ext cx="3365551" cy="2083975"/>
          </a:xfrm>
          <a:prstGeom prst="rect">
            <a:avLst/>
          </a:prstGeom>
          <a:noFill/>
          <a:ln>
            <a:noFill/>
          </a:ln>
        </p:spPr>
      </p:pic>
      <p:sp>
        <p:nvSpPr>
          <p:cNvPr id="71" name="Google Shape;71;p14"/>
          <p:cNvSpPr txBox="1"/>
          <p:nvPr/>
        </p:nvSpPr>
        <p:spPr>
          <a:xfrm>
            <a:off x="1023750" y="3046725"/>
            <a:ext cx="3753900" cy="12387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GB" sz="1300">
                <a:solidFill>
                  <a:schemeClr val="dk1"/>
                </a:solidFill>
                <a:latin typeface="Roboto"/>
                <a:ea typeface="Roboto"/>
                <a:cs typeface="Roboto"/>
                <a:sym typeface="Roboto"/>
              </a:rPr>
              <a:t>Around 2008, people in Delhi were fed up with manual searching of delivery menus of different restaurants around them. Deepinder Goyal and Pankaj Chaddah, the founders of Zomato made the most of this opportunity by launching a food directory service. They called it FoodieBay. In just 9 mthm, it became the largest and a popular restaurant directory in all of Delhi.</a:t>
            </a:r>
            <a:endParaRPr sz="1300">
              <a:solidFill>
                <a:schemeClr val="dk1"/>
              </a:solidFill>
              <a:latin typeface="Roboto"/>
              <a:ea typeface="Roboto"/>
              <a:cs typeface="Roboto"/>
              <a:sym typeface="Roboto"/>
            </a:endParaRPr>
          </a:p>
        </p:txBody>
      </p:sp>
      <p:pic>
        <p:nvPicPr>
          <p:cNvPr id="72" name="Google Shape;72;p14"/>
          <p:cNvPicPr preferRelativeResize="0"/>
          <p:nvPr/>
        </p:nvPicPr>
        <p:blipFill>
          <a:blip r:embed="rId4">
            <a:alphaModFix/>
          </a:blip>
          <a:stretch>
            <a:fillRect/>
          </a:stretch>
        </p:blipFill>
        <p:spPr>
          <a:xfrm>
            <a:off x="5948375" y="698300"/>
            <a:ext cx="2461750" cy="2083975"/>
          </a:xfrm>
          <a:prstGeom prst="rect">
            <a:avLst/>
          </a:prstGeom>
          <a:noFill/>
          <a:ln>
            <a:noFill/>
          </a:ln>
        </p:spPr>
      </p:pic>
      <p:sp>
        <p:nvSpPr>
          <p:cNvPr id="73" name="Google Shape;73;p14"/>
          <p:cNvSpPr txBox="1"/>
          <p:nvPr/>
        </p:nvSpPr>
        <p:spPr>
          <a:xfrm>
            <a:off x="6027025" y="3172725"/>
            <a:ext cx="2813700" cy="1333200"/>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GB" sz="1300">
                <a:solidFill>
                  <a:schemeClr val="dk2"/>
                </a:solidFill>
                <a:latin typeface="Roboto"/>
                <a:ea typeface="Roboto"/>
                <a:cs typeface="Roboto"/>
                <a:sym typeface="Roboto"/>
              </a:rPr>
              <a:t>I</a:t>
            </a:r>
            <a:r>
              <a:rPr lang="en-GB" sz="1300">
                <a:solidFill>
                  <a:schemeClr val="dk1"/>
                </a:solidFill>
                <a:latin typeface="Roboto"/>
                <a:ea typeface="Roboto"/>
                <a:cs typeface="Roboto"/>
                <a:sym typeface="Roboto"/>
              </a:rPr>
              <a:t>t’s revenue grew from Rs. 1,300 cr. in FY 2019 to Rs. 2,800 cr. in FY 2020. It is already profitable at EBITDA level in the food delivery business. During Q2 2019, it was burning about Rs. 290 cr. every month</a:t>
            </a:r>
            <a:endParaRPr sz="1300">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A9999"/>
        </a:solidFill>
        <a:effectLst/>
      </p:bgPr>
    </p:bg>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a:t>PROBLEM STATEMENT</a:t>
            </a:r>
            <a:endParaRPr/>
          </a:p>
        </p:txBody>
      </p:sp>
      <p:sp>
        <p:nvSpPr>
          <p:cNvPr id="79" name="Google Shape;79;p1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fontScale="77500" lnSpcReduction="20000"/>
          </a:bodyPr>
          <a:lstStyle/>
          <a:p>
            <a:pPr marL="0" lvl="0" indent="0" algn="l" rtl="0">
              <a:lnSpc>
                <a:spcPct val="110000"/>
              </a:lnSpc>
              <a:spcBef>
                <a:spcPts val="700"/>
              </a:spcBef>
              <a:spcAft>
                <a:spcPts val="0"/>
              </a:spcAft>
              <a:buNone/>
            </a:pPr>
            <a:r>
              <a:rPr lang="en-GB" sz="1950">
                <a:solidFill>
                  <a:srgbClr val="F4EEDC"/>
                </a:solidFill>
                <a:latin typeface="Arial"/>
                <a:ea typeface="Arial"/>
                <a:cs typeface="Arial"/>
                <a:sym typeface="Arial"/>
              </a:rPr>
              <a:t>±</a:t>
            </a:r>
            <a:r>
              <a:rPr lang="en-GB" sz="2800">
                <a:solidFill>
                  <a:srgbClr val="FFFFFF"/>
                </a:solidFill>
                <a:latin typeface="Arial"/>
                <a:ea typeface="Arial"/>
                <a:cs typeface="Arial"/>
                <a:sym typeface="Arial"/>
              </a:rPr>
              <a:t>To identify optimal countries and cities for opening new restaurants by analysing existing restaurant performance, market demand, and economic factors, ensuring profitable and strategic expansion.</a:t>
            </a:r>
            <a:endParaRPr sz="2800">
              <a:solidFill>
                <a:srgbClr val="FFFFFF"/>
              </a:solidFill>
              <a:latin typeface="Arial"/>
              <a:ea typeface="Arial"/>
              <a:cs typeface="Arial"/>
              <a:sym typeface="Arial"/>
            </a:endParaRPr>
          </a:p>
          <a:p>
            <a:pPr marL="0" lvl="0" indent="0" algn="l" rtl="0">
              <a:spcBef>
                <a:spcPts val="600"/>
              </a:spcBef>
              <a:spcAft>
                <a:spcPts val="1200"/>
              </a:spcAft>
              <a:buNone/>
            </a:pPr>
            <a:endParaRPr/>
          </a:p>
        </p:txBody>
      </p:sp>
      <p:sp>
        <p:nvSpPr>
          <p:cNvPr id="80" name="Google Shape;80;p1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81" name="Google Shape;81;p15"/>
          <p:cNvPicPr preferRelativeResize="0"/>
          <p:nvPr/>
        </p:nvPicPr>
        <p:blipFill>
          <a:blip r:embed="rId3">
            <a:alphaModFix/>
          </a:blip>
          <a:stretch>
            <a:fillRect/>
          </a:stretch>
        </p:blipFill>
        <p:spPr>
          <a:xfrm>
            <a:off x="5240550" y="1596250"/>
            <a:ext cx="3521125" cy="2837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CCCC"/>
        </a:solidFill>
        <a:effectLst/>
      </p:bgPr>
    </p:bg>
    <p:spTree>
      <p:nvGrpSpPr>
        <p:cNvPr id="1" name="Shape 85"/>
        <p:cNvGrpSpPr/>
        <p:nvPr/>
      </p:nvGrpSpPr>
      <p:grpSpPr>
        <a:xfrm>
          <a:off x="0" y="0"/>
          <a:ext cx="0" cy="0"/>
          <a:chOff x="0" y="0"/>
          <a:chExt cx="0" cy="0"/>
        </a:xfrm>
      </p:grpSpPr>
      <p:sp>
        <p:nvSpPr>
          <p:cNvPr id="86" name="Google Shape;86;p16"/>
          <p:cNvSpPr txBox="1">
            <a:spLocks noGrp="1"/>
          </p:cNvSpPr>
          <p:nvPr>
            <p:ph type="subTitle" idx="4294967295"/>
          </p:nvPr>
        </p:nvSpPr>
        <p:spPr>
          <a:xfrm>
            <a:off x="231325" y="1232475"/>
            <a:ext cx="8188200" cy="31509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SzPts val="1300"/>
              <a:buChar char="●"/>
            </a:pPr>
            <a:r>
              <a:rPr lang="en-GB"/>
              <a:t>Total 15 countries, restaurant name, locality, cuisines it offer.</a:t>
            </a:r>
            <a:endParaRPr/>
          </a:p>
          <a:p>
            <a:pPr marL="457200" lvl="0" indent="-311150" algn="l" rtl="0">
              <a:spcBef>
                <a:spcPts val="0"/>
              </a:spcBef>
              <a:spcAft>
                <a:spcPts val="0"/>
              </a:spcAft>
              <a:buSzPts val="1300"/>
              <a:buChar char="●"/>
            </a:pPr>
            <a:r>
              <a:rPr lang="en-GB"/>
              <a:t>Dataset contains information about restaurant name, id, locality, longitude, latitude, date of opening,currency used, average cost of two, has online delivery service available or not</a:t>
            </a:r>
            <a:endParaRPr/>
          </a:p>
          <a:p>
            <a:pPr marL="0" lvl="0" indent="0" algn="l" rtl="0">
              <a:spcBef>
                <a:spcPts val="1200"/>
              </a:spcBef>
              <a:spcAft>
                <a:spcPts val="0"/>
              </a:spcAft>
              <a:buNone/>
            </a:pPr>
            <a:r>
              <a:rPr lang="en-GB"/>
              <a:t>Data Cleaning and processes</a:t>
            </a:r>
            <a:endParaRPr/>
          </a:p>
          <a:p>
            <a:pPr marL="457200" lvl="0" indent="-311150" algn="l" rtl="0">
              <a:spcBef>
                <a:spcPts val="1200"/>
              </a:spcBef>
              <a:spcAft>
                <a:spcPts val="0"/>
              </a:spcAft>
              <a:buSzPts val="1300"/>
              <a:buChar char="●"/>
            </a:pPr>
            <a:r>
              <a:rPr lang="en-GB"/>
              <a:t>Cuisines contains some null values  which is handled by ifblank</a:t>
            </a:r>
            <a:endParaRPr/>
          </a:p>
          <a:p>
            <a:pPr marL="457200" lvl="0" indent="-311150" algn="l" rtl="0">
              <a:spcBef>
                <a:spcPts val="0"/>
              </a:spcBef>
              <a:spcAft>
                <a:spcPts val="0"/>
              </a:spcAft>
              <a:buSzPts val="1300"/>
              <a:buChar char="●"/>
            </a:pPr>
            <a:r>
              <a:rPr lang="en-GB"/>
              <a:t>Normalized currency with average cost of two people</a:t>
            </a:r>
            <a:endParaRPr/>
          </a:p>
          <a:p>
            <a:pPr marL="457200" lvl="0" indent="-311150" algn="l" rtl="0">
              <a:spcBef>
                <a:spcPts val="0"/>
              </a:spcBef>
              <a:spcAft>
                <a:spcPts val="0"/>
              </a:spcAft>
              <a:buSzPts val="1300"/>
              <a:buChar char="●"/>
            </a:pPr>
            <a:r>
              <a:rPr lang="en-GB"/>
              <a:t>Standarized date format in readable format</a:t>
            </a:r>
            <a:endParaRPr/>
          </a:p>
          <a:p>
            <a:pPr marL="457200" lvl="0" indent="-311150" algn="l" rtl="0">
              <a:spcBef>
                <a:spcPts val="0"/>
              </a:spcBef>
              <a:spcAft>
                <a:spcPts val="0"/>
              </a:spcAft>
              <a:buSzPts val="1300"/>
              <a:buChar char="●"/>
            </a:pPr>
            <a:r>
              <a:rPr lang="en-GB"/>
              <a:t>Processed various currencies and converted them into INR and USD for comparison.</a:t>
            </a:r>
            <a:endParaRPr/>
          </a:p>
          <a:p>
            <a:pPr marL="457200" lvl="0" indent="-311150" algn="l" rtl="0">
              <a:spcBef>
                <a:spcPts val="0"/>
              </a:spcBef>
              <a:spcAft>
                <a:spcPts val="0"/>
              </a:spcAft>
              <a:buSzPts val="1300"/>
              <a:buChar char="●"/>
            </a:pPr>
            <a:r>
              <a:rPr lang="en-GB"/>
              <a:t>Used LOOKUP functions to fetch the appropriate country codes.</a:t>
            </a:r>
            <a:endParaRPr/>
          </a:p>
          <a:p>
            <a:pPr marL="457200" lvl="0" indent="0" algn="l" rtl="0">
              <a:spcBef>
                <a:spcPts val="1200"/>
              </a:spcBef>
              <a:spcAft>
                <a:spcPts val="1200"/>
              </a:spcAft>
              <a:buNone/>
            </a:pPr>
            <a:endParaRPr/>
          </a:p>
        </p:txBody>
      </p:sp>
      <p:pic>
        <p:nvPicPr>
          <p:cNvPr id="87" name="Google Shape;87;p16"/>
          <p:cNvPicPr preferRelativeResize="0"/>
          <p:nvPr/>
        </p:nvPicPr>
        <p:blipFill>
          <a:blip r:embed="rId3">
            <a:alphaModFix/>
          </a:blip>
          <a:stretch>
            <a:fillRect/>
          </a:stretch>
        </p:blipFill>
        <p:spPr>
          <a:xfrm>
            <a:off x="6382925" y="3457600"/>
            <a:ext cx="2209800" cy="1362075"/>
          </a:xfrm>
          <a:prstGeom prst="rect">
            <a:avLst/>
          </a:prstGeom>
          <a:noFill/>
          <a:ln>
            <a:noFill/>
          </a:ln>
        </p:spPr>
      </p:pic>
      <p:sp>
        <p:nvSpPr>
          <p:cNvPr id="88" name="Google Shape;88;p16"/>
          <p:cNvSpPr txBox="1"/>
          <p:nvPr/>
        </p:nvSpPr>
        <p:spPr>
          <a:xfrm>
            <a:off x="328125" y="159625"/>
            <a:ext cx="7998900" cy="78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sz="3600" b="1"/>
              <a:t>Data Cleaning and Processing</a:t>
            </a:r>
            <a:endParaRPr sz="1300">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ctrTitle"/>
          </p:nvPr>
        </p:nvSpPr>
        <p:spPr>
          <a:xfrm>
            <a:off x="90700" y="77600"/>
            <a:ext cx="8520600" cy="6579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Methodology</a:t>
            </a:r>
            <a:endParaRPr/>
          </a:p>
        </p:txBody>
      </p:sp>
      <p:sp>
        <p:nvSpPr>
          <p:cNvPr id="94" name="Google Shape;94;p17"/>
          <p:cNvSpPr txBox="1">
            <a:spLocks noGrp="1"/>
          </p:cNvSpPr>
          <p:nvPr>
            <p:ph type="subTitle" idx="1"/>
          </p:nvPr>
        </p:nvSpPr>
        <p:spPr>
          <a:xfrm>
            <a:off x="221300" y="894026"/>
            <a:ext cx="8520600" cy="39402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GB" b="1" dirty="0"/>
              <a:t>Data Cleaning</a:t>
            </a:r>
            <a:r>
              <a:rPr lang="en-GB" dirty="0"/>
              <a:t> - Using </a:t>
            </a:r>
            <a:r>
              <a:rPr lang="en-GB" dirty="0" err="1"/>
              <a:t>ifna</a:t>
            </a:r>
            <a:r>
              <a:rPr lang="en-GB" dirty="0"/>
              <a:t>() , trim, clear function to handle  missing values</a:t>
            </a:r>
            <a:endParaRPr dirty="0"/>
          </a:p>
          <a:p>
            <a:pPr marL="457200" lvl="0" indent="-330200" algn="l" rtl="0">
              <a:spcBef>
                <a:spcPts val="0"/>
              </a:spcBef>
              <a:spcAft>
                <a:spcPts val="0"/>
              </a:spcAft>
              <a:buSzPts val="1600"/>
              <a:buChar char="●"/>
            </a:pPr>
            <a:r>
              <a:rPr lang="en-GB" b="1" dirty="0"/>
              <a:t>Data Preprocessing</a:t>
            </a:r>
            <a:r>
              <a:rPr lang="en-GB" dirty="0"/>
              <a:t> - Enhanced dataset with additional column name of country extracted using XLOOKUP to cross reference external data sets</a:t>
            </a:r>
            <a:endParaRPr dirty="0"/>
          </a:p>
          <a:p>
            <a:pPr marL="457200" lvl="0" indent="-330200" algn="l" rtl="0">
              <a:spcBef>
                <a:spcPts val="0"/>
              </a:spcBef>
              <a:spcAft>
                <a:spcPts val="0"/>
              </a:spcAft>
              <a:buSzPts val="1600"/>
              <a:buChar char="●"/>
            </a:pPr>
            <a:r>
              <a:rPr lang="en-GB" b="1" dirty="0"/>
              <a:t>Data Enrichment</a:t>
            </a:r>
            <a:r>
              <a:rPr lang="en-GB" dirty="0"/>
              <a:t> - Applied CONCATENATE, MID, FIND function to attain customized price value using currency and price</a:t>
            </a:r>
            <a:endParaRPr dirty="0"/>
          </a:p>
          <a:p>
            <a:pPr marL="457200" lvl="0" indent="-330200" algn="l" rtl="0">
              <a:spcBef>
                <a:spcPts val="0"/>
              </a:spcBef>
              <a:spcAft>
                <a:spcPts val="0"/>
              </a:spcAft>
              <a:buSzPts val="1600"/>
              <a:buChar char="●"/>
            </a:pPr>
            <a:r>
              <a:rPr lang="en-GB" b="1" dirty="0"/>
              <a:t>Descriptive Analysis - </a:t>
            </a:r>
            <a:r>
              <a:rPr lang="en-GB" dirty="0"/>
              <a:t> Employed PIVOT table to summarize key metrics and identify count of restaurants in each country, cities and price of each. It also helps in understanding which restaurant is highly rated and what factors affect it.</a:t>
            </a:r>
            <a:endParaRPr dirty="0"/>
          </a:p>
          <a:p>
            <a:pPr marL="457200" lvl="0" indent="-330200" algn="l" rtl="0">
              <a:spcBef>
                <a:spcPts val="0"/>
              </a:spcBef>
              <a:spcAft>
                <a:spcPts val="0"/>
              </a:spcAft>
              <a:buSzPts val="1600"/>
              <a:buChar char="●"/>
            </a:pPr>
            <a:r>
              <a:rPr lang="en-GB" b="1" dirty="0"/>
              <a:t>Visualization - </a:t>
            </a:r>
            <a:r>
              <a:rPr lang="en-GB" dirty="0"/>
              <a:t> creating dynamic charts and dashboards for data visualization.</a:t>
            </a:r>
            <a:endParaRPr dirty="0"/>
          </a:p>
        </p:txBody>
      </p:sp>
      <p:pic>
        <p:nvPicPr>
          <p:cNvPr id="95" name="Google Shape;95;p17"/>
          <p:cNvPicPr preferRelativeResize="0"/>
          <p:nvPr/>
        </p:nvPicPr>
        <p:blipFill rotWithShape="1">
          <a:blip r:embed="rId3">
            <a:alphaModFix/>
          </a:blip>
          <a:srcRect t="14059" r="50636"/>
          <a:stretch/>
        </p:blipFill>
        <p:spPr>
          <a:xfrm>
            <a:off x="6832224" y="3568950"/>
            <a:ext cx="2162651" cy="15745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9"/>
        <p:cNvGrpSpPr/>
        <p:nvPr/>
      </p:nvGrpSpPr>
      <p:grpSpPr>
        <a:xfrm>
          <a:off x="0" y="0"/>
          <a:ext cx="0" cy="0"/>
          <a:chOff x="0" y="0"/>
          <a:chExt cx="0" cy="0"/>
        </a:xfrm>
      </p:grpSpPr>
      <p:sp>
        <p:nvSpPr>
          <p:cNvPr id="100" name="Google Shape;100;p18"/>
          <p:cNvSpPr txBox="1">
            <a:spLocks noGrp="1"/>
          </p:cNvSpPr>
          <p:nvPr>
            <p:ph type="title"/>
          </p:nvPr>
        </p:nvSpPr>
        <p:spPr>
          <a:xfrm>
            <a:off x="290725" y="49500"/>
            <a:ext cx="4040100" cy="540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GB" sz="1520"/>
              <a:t>No. of Restaurants opened in each city</a:t>
            </a:r>
            <a:endParaRPr sz="1520"/>
          </a:p>
        </p:txBody>
      </p:sp>
      <p:sp>
        <p:nvSpPr>
          <p:cNvPr id="101" name="Google Shape;101;p18"/>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GB" sz="1400" b="1">
                <a:solidFill>
                  <a:srgbClr val="000000"/>
                </a:solidFill>
                <a:latin typeface="Arial"/>
                <a:ea typeface="Arial"/>
                <a:cs typeface="Arial"/>
                <a:sym typeface="Arial"/>
              </a:rPr>
              <a:t>8,652 restaurants</a:t>
            </a:r>
            <a:r>
              <a:rPr lang="en-GB" sz="1400">
                <a:solidFill>
                  <a:srgbClr val="000000"/>
                </a:solidFill>
                <a:latin typeface="Arial"/>
                <a:ea typeface="Arial"/>
                <a:cs typeface="Arial"/>
                <a:sym typeface="Arial"/>
              </a:rPr>
              <a:t> (90%+ of total) are in </a:t>
            </a:r>
            <a:r>
              <a:rPr lang="en-GB" sz="1400" b="1">
                <a:solidFill>
                  <a:srgbClr val="000000"/>
                </a:solidFill>
                <a:latin typeface="Arial"/>
                <a:ea typeface="Arial"/>
                <a:cs typeface="Arial"/>
                <a:sym typeface="Arial"/>
              </a:rPr>
              <a:t>India</a:t>
            </a:r>
            <a:r>
              <a:rPr lang="en-GB" sz="1400">
                <a:solidFill>
                  <a:srgbClr val="000000"/>
                </a:solidFill>
                <a:latin typeface="Arial"/>
                <a:ea typeface="Arial"/>
                <a:cs typeface="Arial"/>
                <a:sym typeface="Arial"/>
              </a:rPr>
              <a:t>, indicating a </a:t>
            </a:r>
            <a:r>
              <a:rPr lang="en-GB" sz="1400" b="1">
                <a:solidFill>
                  <a:srgbClr val="000000"/>
                </a:solidFill>
                <a:latin typeface="Arial"/>
                <a:ea typeface="Arial"/>
                <a:cs typeface="Arial"/>
                <a:sym typeface="Arial"/>
              </a:rPr>
              <a:t>highly competitive</a:t>
            </a:r>
            <a:r>
              <a:rPr lang="en-GB" sz="1400">
                <a:solidFill>
                  <a:srgbClr val="000000"/>
                </a:solidFill>
                <a:latin typeface="Arial"/>
                <a:ea typeface="Arial"/>
                <a:cs typeface="Arial"/>
                <a:sym typeface="Arial"/>
              </a:rPr>
              <a:t> food industry</a:t>
            </a:r>
            <a:endParaRPr sz="1400">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GB" sz="1400" b="1">
                <a:solidFill>
                  <a:srgbClr val="000000"/>
                </a:solidFill>
                <a:latin typeface="Arial"/>
                <a:ea typeface="Arial"/>
                <a:cs typeface="Arial"/>
                <a:sym typeface="Arial"/>
              </a:rPr>
              <a:t>434 restaurants</a:t>
            </a:r>
            <a:r>
              <a:rPr lang="en-GB" sz="1400">
                <a:solidFill>
                  <a:srgbClr val="000000"/>
                </a:solidFill>
                <a:latin typeface="Arial"/>
                <a:ea typeface="Arial"/>
                <a:cs typeface="Arial"/>
                <a:sym typeface="Arial"/>
              </a:rPr>
              <a:t> are located in the </a:t>
            </a:r>
            <a:r>
              <a:rPr lang="en-GB" sz="1400" b="1">
                <a:solidFill>
                  <a:srgbClr val="000000"/>
                </a:solidFill>
                <a:latin typeface="Arial"/>
                <a:ea typeface="Arial"/>
                <a:cs typeface="Arial"/>
                <a:sym typeface="Arial"/>
              </a:rPr>
              <a:t>USA</a:t>
            </a:r>
            <a:r>
              <a:rPr lang="en-GB" sz="1400">
                <a:solidFill>
                  <a:srgbClr val="000000"/>
                </a:solidFill>
                <a:latin typeface="Arial"/>
                <a:ea typeface="Arial"/>
                <a:cs typeface="Arial"/>
                <a:sym typeface="Arial"/>
              </a:rPr>
              <a:t>, showing </a:t>
            </a:r>
            <a:r>
              <a:rPr lang="en-GB" sz="1400" b="1">
                <a:solidFill>
                  <a:srgbClr val="000000"/>
                </a:solidFill>
                <a:latin typeface="Arial"/>
                <a:ea typeface="Arial"/>
                <a:cs typeface="Arial"/>
                <a:sym typeface="Arial"/>
              </a:rPr>
              <a:t>significant market presence</a:t>
            </a:r>
            <a:r>
              <a:rPr lang="en-GB" sz="1400">
                <a:solidFill>
                  <a:srgbClr val="000000"/>
                </a:solidFill>
                <a:latin typeface="Arial"/>
                <a:ea typeface="Arial"/>
                <a:cs typeface="Arial"/>
                <a:sym typeface="Arial"/>
              </a:rPr>
              <a:t>.</a:t>
            </a:r>
            <a:endParaRPr sz="1400">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GB" sz="1400">
                <a:solidFill>
                  <a:srgbClr val="000000"/>
                </a:solidFill>
                <a:latin typeface="Arial"/>
                <a:ea typeface="Arial"/>
                <a:cs typeface="Arial"/>
                <a:sym typeface="Arial"/>
              </a:rPr>
              <a:t>Qatar &amp; Sri Lanka Have Low Competition.</a:t>
            </a:r>
            <a:r>
              <a:rPr lang="en-GB" sz="1400" b="1">
                <a:solidFill>
                  <a:srgbClr val="000000"/>
                </a:solidFill>
                <a:latin typeface="Arial"/>
                <a:ea typeface="Arial"/>
                <a:cs typeface="Arial"/>
                <a:sym typeface="Arial"/>
              </a:rPr>
              <a:t>Only 20 restaurants each</a:t>
            </a:r>
            <a:r>
              <a:rPr lang="en-GB" sz="1400">
                <a:solidFill>
                  <a:srgbClr val="000000"/>
                </a:solidFill>
                <a:latin typeface="Arial"/>
                <a:ea typeface="Arial"/>
                <a:cs typeface="Arial"/>
                <a:sym typeface="Arial"/>
              </a:rPr>
              <a:t> → Indicating </a:t>
            </a:r>
            <a:r>
              <a:rPr lang="en-GB" sz="1400" b="1">
                <a:solidFill>
                  <a:srgbClr val="000000"/>
                </a:solidFill>
                <a:latin typeface="Arial"/>
                <a:ea typeface="Arial"/>
                <a:cs typeface="Arial"/>
                <a:sym typeface="Arial"/>
              </a:rPr>
              <a:t>potential</a:t>
            </a:r>
            <a:r>
              <a:rPr lang="en-GB" sz="1400">
                <a:solidFill>
                  <a:srgbClr val="000000"/>
                </a:solidFill>
                <a:latin typeface="Arial"/>
                <a:ea typeface="Arial"/>
                <a:cs typeface="Arial"/>
                <a:sym typeface="Arial"/>
              </a:rPr>
              <a:t> for new business expansion.These countries could be </a:t>
            </a:r>
            <a:r>
              <a:rPr lang="en-GB" sz="1400" b="1">
                <a:solidFill>
                  <a:srgbClr val="000000"/>
                </a:solidFill>
                <a:latin typeface="Arial"/>
                <a:ea typeface="Arial"/>
                <a:cs typeface="Arial"/>
                <a:sym typeface="Arial"/>
              </a:rPr>
              <a:t>ideal for launching new restaurants</a:t>
            </a:r>
            <a:r>
              <a:rPr lang="en-GB" sz="1400">
                <a:solidFill>
                  <a:srgbClr val="000000"/>
                </a:solidFill>
                <a:latin typeface="Arial"/>
                <a:ea typeface="Arial"/>
                <a:cs typeface="Arial"/>
                <a:sym typeface="Arial"/>
              </a:rPr>
              <a:t> with lower competition</a:t>
            </a:r>
            <a:endParaRPr sz="1400">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GB" sz="1400" b="1">
                <a:solidFill>
                  <a:srgbClr val="000000"/>
                </a:solidFill>
                <a:latin typeface="Arial"/>
                <a:ea typeface="Arial"/>
                <a:cs typeface="Arial"/>
                <a:sym typeface="Arial"/>
              </a:rPr>
              <a:t>Australia, Canada, Singapore, &amp; New Zealand Have Minimal Presence</a:t>
            </a:r>
            <a:r>
              <a:rPr lang="en-GB" sz="1400">
                <a:solidFill>
                  <a:srgbClr val="000000"/>
                </a:solidFill>
                <a:latin typeface="Arial"/>
                <a:ea typeface="Arial"/>
                <a:cs typeface="Arial"/>
                <a:sym typeface="Arial"/>
              </a:rPr>
              <a:t> .Fewer than </a:t>
            </a:r>
            <a:r>
              <a:rPr lang="en-GB" sz="1400" b="1">
                <a:solidFill>
                  <a:srgbClr val="000000"/>
                </a:solidFill>
                <a:latin typeface="Arial"/>
                <a:ea typeface="Arial"/>
                <a:cs typeface="Arial"/>
                <a:sym typeface="Arial"/>
              </a:rPr>
              <a:t>50 restaurants in each country</a:t>
            </a:r>
            <a:r>
              <a:rPr lang="en-GB" sz="1400">
                <a:solidFill>
                  <a:srgbClr val="000000"/>
                </a:solidFill>
                <a:latin typeface="Arial"/>
                <a:ea typeface="Arial"/>
                <a:cs typeface="Arial"/>
                <a:sym typeface="Arial"/>
              </a:rPr>
              <a:t> → Scope for </a:t>
            </a:r>
            <a:r>
              <a:rPr lang="en-GB" sz="1400" b="1">
                <a:solidFill>
                  <a:srgbClr val="000000"/>
                </a:solidFill>
                <a:latin typeface="Arial"/>
                <a:ea typeface="Arial"/>
                <a:cs typeface="Arial"/>
                <a:sym typeface="Arial"/>
              </a:rPr>
              <a:t>growth &amp; expansion</a:t>
            </a:r>
            <a:r>
              <a:rPr lang="en-GB" sz="1400">
                <a:solidFill>
                  <a:srgbClr val="000000"/>
                </a:solidFill>
                <a:latin typeface="Arial"/>
                <a:ea typeface="Arial"/>
                <a:cs typeface="Arial"/>
                <a:sym typeface="Arial"/>
              </a:rPr>
              <a:t> in these markets</a:t>
            </a:r>
            <a:endParaRPr sz="1400">
              <a:solidFill>
                <a:srgbClr val="000000"/>
              </a:solidFill>
              <a:latin typeface="Arial"/>
              <a:ea typeface="Arial"/>
              <a:cs typeface="Arial"/>
              <a:sym typeface="Arial"/>
            </a:endParaRPr>
          </a:p>
        </p:txBody>
      </p:sp>
      <p:pic>
        <p:nvPicPr>
          <p:cNvPr id="2" name="Google Shape;102;p18"/>
          <p:cNvPicPr preferRelativeResize="0"/>
          <p:nvPr/>
        </p:nvPicPr>
        <p:blipFill>
          <a:blip r:embed="rId3">
            <a:alphaModFix/>
          </a:blip>
          <a:stretch>
            <a:fillRect/>
          </a:stretch>
        </p:blipFill>
        <p:spPr>
          <a:xfrm>
            <a:off x="987975" y="437322"/>
            <a:ext cx="2590800" cy="465667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26" name="Picture 2">
            <a:extLst>
              <a:ext uri="{FF2B5EF4-FFF2-40B4-BE49-F238E27FC236}">
                <a16:creationId xmlns:a16="http://schemas.microsoft.com/office/drawing/2014/main" id="{4E390DFE-72AE-675F-1893-54EB054415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 y="159026"/>
            <a:ext cx="8738483" cy="46912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CCCC"/>
        </a:solidFill>
        <a:effectLst/>
      </p:bgPr>
    </p:bg>
    <p:spTree>
      <p:nvGrpSpPr>
        <p:cNvPr id="1" name="Shape 111"/>
        <p:cNvGrpSpPr/>
        <p:nvPr/>
      </p:nvGrpSpPr>
      <p:grpSpPr>
        <a:xfrm>
          <a:off x="0" y="0"/>
          <a:ext cx="0" cy="0"/>
          <a:chOff x="0" y="0"/>
          <a:chExt cx="0" cy="0"/>
        </a:xfrm>
      </p:grpSpPr>
      <p:sp>
        <p:nvSpPr>
          <p:cNvPr id="112" name="Google Shape;112;p20"/>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p>
            <a:pPr marL="457200" lvl="0" indent="-330200" algn="l" rtl="0">
              <a:spcBef>
                <a:spcPts val="0"/>
              </a:spcBef>
              <a:spcAft>
                <a:spcPts val="0"/>
              </a:spcAft>
              <a:buSzPts val="1600"/>
              <a:buChar char="●"/>
            </a:pPr>
            <a:r>
              <a:rPr lang="en-GB" sz="1400">
                <a:solidFill>
                  <a:srgbClr val="000000"/>
                </a:solidFill>
                <a:latin typeface="Arial"/>
                <a:ea typeface="Arial"/>
                <a:cs typeface="Arial"/>
                <a:sym typeface="Arial"/>
              </a:rPr>
              <a:t>The number of restaurants opened each year remains </a:t>
            </a:r>
            <a:r>
              <a:rPr lang="en-GB" sz="1400" b="1">
                <a:solidFill>
                  <a:srgbClr val="000000"/>
                </a:solidFill>
                <a:latin typeface="Arial"/>
                <a:ea typeface="Arial"/>
                <a:cs typeface="Arial"/>
                <a:sym typeface="Arial"/>
              </a:rPr>
              <a:t>relatively stable</a:t>
            </a:r>
            <a:r>
              <a:rPr lang="en-GB" sz="1400">
                <a:solidFill>
                  <a:srgbClr val="000000"/>
                </a:solidFill>
                <a:latin typeface="Arial"/>
                <a:ea typeface="Arial"/>
                <a:cs typeface="Arial"/>
                <a:sym typeface="Arial"/>
              </a:rPr>
              <a:t>, averaging around </a:t>
            </a:r>
            <a:r>
              <a:rPr lang="en-GB" sz="1400" b="1">
                <a:solidFill>
                  <a:srgbClr val="000000"/>
                </a:solidFill>
                <a:latin typeface="Arial"/>
                <a:ea typeface="Arial"/>
                <a:cs typeface="Arial"/>
                <a:sym typeface="Arial"/>
              </a:rPr>
              <a:t>1,050 per year</a:t>
            </a:r>
            <a:r>
              <a:rPr lang="en-GB" sz="1400">
                <a:solidFill>
                  <a:srgbClr val="000000"/>
                </a:solidFill>
                <a:latin typeface="Arial"/>
                <a:ea typeface="Arial"/>
                <a:cs typeface="Arial"/>
                <a:sym typeface="Arial"/>
              </a:rPr>
              <a:t>.Indicates a </a:t>
            </a:r>
            <a:r>
              <a:rPr lang="en-GB" sz="1400" b="1">
                <a:solidFill>
                  <a:srgbClr val="000000"/>
                </a:solidFill>
                <a:latin typeface="Arial"/>
                <a:ea typeface="Arial"/>
                <a:cs typeface="Arial"/>
                <a:sym typeface="Arial"/>
              </a:rPr>
              <a:t>consistent demand</a:t>
            </a:r>
            <a:r>
              <a:rPr lang="en-GB" sz="1400">
                <a:solidFill>
                  <a:srgbClr val="000000"/>
                </a:solidFill>
                <a:latin typeface="Arial"/>
                <a:ea typeface="Arial"/>
                <a:cs typeface="Arial"/>
                <a:sym typeface="Arial"/>
              </a:rPr>
              <a:t> for new restaurant ventures</a:t>
            </a:r>
            <a:endParaRPr sz="1400">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GB" sz="1400" b="1">
                <a:solidFill>
                  <a:srgbClr val="000000"/>
                </a:solidFill>
                <a:latin typeface="Arial"/>
                <a:ea typeface="Arial"/>
                <a:cs typeface="Arial"/>
                <a:sym typeface="Arial"/>
              </a:rPr>
              <a:t>2018 saw the highest</a:t>
            </a:r>
            <a:r>
              <a:rPr lang="en-GB" sz="1400">
                <a:solidFill>
                  <a:srgbClr val="000000"/>
                </a:solidFill>
                <a:latin typeface="Arial"/>
                <a:ea typeface="Arial"/>
                <a:cs typeface="Arial"/>
                <a:sym typeface="Arial"/>
              </a:rPr>
              <a:t> number of restaurant openings, suggesting </a:t>
            </a:r>
            <a:r>
              <a:rPr lang="en-GB" sz="1400" b="1">
                <a:solidFill>
                  <a:srgbClr val="000000"/>
                </a:solidFill>
                <a:latin typeface="Arial"/>
                <a:ea typeface="Arial"/>
                <a:cs typeface="Arial"/>
                <a:sym typeface="Arial"/>
              </a:rPr>
              <a:t>strong market confidence</a:t>
            </a:r>
            <a:endParaRPr sz="1400" b="1">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GB" sz="1400" b="1">
                <a:solidFill>
                  <a:srgbClr val="000000"/>
                </a:solidFill>
                <a:latin typeface="Arial"/>
                <a:ea typeface="Arial"/>
                <a:cs typeface="Arial"/>
                <a:sym typeface="Arial"/>
              </a:rPr>
              <a:t>2012 (1,022) and 2015 (1,024) had lower openings</a:t>
            </a:r>
            <a:endParaRPr sz="1400" b="1">
              <a:solidFill>
                <a:srgbClr val="000000"/>
              </a:solidFill>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GB" sz="1400">
                <a:solidFill>
                  <a:srgbClr val="000000"/>
                </a:solidFill>
                <a:latin typeface="Arial"/>
                <a:ea typeface="Arial"/>
                <a:cs typeface="Arial"/>
                <a:sym typeface="Arial"/>
              </a:rPr>
              <a:t>A steady </a:t>
            </a:r>
            <a:r>
              <a:rPr lang="en-GB" sz="1400" b="1">
                <a:solidFill>
                  <a:srgbClr val="000000"/>
                </a:solidFill>
                <a:latin typeface="Arial"/>
                <a:ea typeface="Arial"/>
                <a:cs typeface="Arial"/>
                <a:sym typeface="Arial"/>
              </a:rPr>
              <a:t>upward trend in recent years (2016-2018)</a:t>
            </a:r>
            <a:r>
              <a:rPr lang="en-GB" sz="1400">
                <a:solidFill>
                  <a:srgbClr val="000000"/>
                </a:solidFill>
                <a:latin typeface="Arial"/>
                <a:ea typeface="Arial"/>
                <a:cs typeface="Arial"/>
                <a:sym typeface="Arial"/>
              </a:rPr>
              <a:t> indicates </a:t>
            </a:r>
            <a:r>
              <a:rPr lang="en-GB" sz="1400" b="1">
                <a:solidFill>
                  <a:srgbClr val="000000"/>
                </a:solidFill>
                <a:latin typeface="Arial"/>
                <a:ea typeface="Arial"/>
                <a:cs typeface="Arial"/>
                <a:sym typeface="Arial"/>
              </a:rPr>
              <a:t>increasing opportunities</a:t>
            </a:r>
            <a:r>
              <a:rPr lang="en-GB" sz="1400">
                <a:solidFill>
                  <a:srgbClr val="000000"/>
                </a:solidFill>
                <a:latin typeface="Arial"/>
                <a:ea typeface="Arial"/>
                <a:cs typeface="Arial"/>
                <a:sym typeface="Arial"/>
              </a:rPr>
              <a:t> for new restaurants.</a:t>
            </a:r>
            <a:endParaRPr sz="1400" b="1">
              <a:solidFill>
                <a:srgbClr val="000000"/>
              </a:solidFill>
              <a:latin typeface="Arial"/>
              <a:ea typeface="Arial"/>
              <a:cs typeface="Arial"/>
              <a:sym typeface="Arial"/>
            </a:endParaRPr>
          </a:p>
        </p:txBody>
      </p:sp>
      <p:pic>
        <p:nvPicPr>
          <p:cNvPr id="113" name="Google Shape;113;p20"/>
          <p:cNvPicPr preferRelativeResize="0"/>
          <p:nvPr/>
        </p:nvPicPr>
        <p:blipFill>
          <a:blip r:embed="rId3">
            <a:alphaModFix/>
          </a:blip>
          <a:stretch>
            <a:fillRect/>
          </a:stretch>
        </p:blipFill>
        <p:spPr>
          <a:xfrm>
            <a:off x="890688" y="907150"/>
            <a:ext cx="2638425" cy="3286125"/>
          </a:xfrm>
          <a:prstGeom prst="rect">
            <a:avLst/>
          </a:prstGeom>
          <a:noFill/>
          <a:ln>
            <a:noFill/>
          </a:ln>
        </p:spPr>
      </p:pic>
      <p:sp>
        <p:nvSpPr>
          <p:cNvPr id="114" name="Google Shape;114;p20"/>
          <p:cNvSpPr txBox="1"/>
          <p:nvPr/>
        </p:nvSpPr>
        <p:spPr>
          <a:xfrm>
            <a:off x="121550" y="122625"/>
            <a:ext cx="3998400" cy="582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100">
                <a:solidFill>
                  <a:schemeClr val="lt1"/>
                </a:solidFill>
                <a:latin typeface="Roboto"/>
                <a:ea typeface="Roboto"/>
                <a:cs typeface="Roboto"/>
                <a:sym typeface="Roboto"/>
              </a:rPr>
              <a:t>Restaurants opened each year</a:t>
            </a:r>
            <a:endParaRPr sz="2100">
              <a:solidFill>
                <a:schemeClr val="lt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2050" name="Picture 2">
            <a:extLst>
              <a:ext uri="{FF2B5EF4-FFF2-40B4-BE49-F238E27FC236}">
                <a16:creationId xmlns:a16="http://schemas.microsoft.com/office/drawing/2014/main" id="{5B983747-ADCD-F577-5F89-9EEA1B015F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5" y="190830"/>
            <a:ext cx="8024108" cy="48542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FEFEF"/>
        </a:solidFill>
        <a:effectLst/>
      </p:bgPr>
    </p:bg>
    <p:spTree>
      <p:nvGrpSpPr>
        <p:cNvPr id="1" name="Shape 123"/>
        <p:cNvGrpSpPr/>
        <p:nvPr/>
      </p:nvGrpSpPr>
      <p:grpSpPr>
        <a:xfrm>
          <a:off x="0" y="0"/>
          <a:ext cx="0" cy="0"/>
          <a:chOff x="0" y="0"/>
          <a:chExt cx="0" cy="0"/>
        </a:xfrm>
      </p:grpSpPr>
      <p:sp>
        <p:nvSpPr>
          <p:cNvPr id="124" name="Google Shape;124;p22"/>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Autofit/>
          </a:bodyPr>
          <a:lstStyle/>
          <a:p>
            <a:pPr marL="457200" lvl="0" indent="-323850" algn="l" rtl="0">
              <a:spcBef>
                <a:spcPts val="0"/>
              </a:spcBef>
              <a:spcAft>
                <a:spcPts val="0"/>
              </a:spcAft>
              <a:buSzPts val="1500"/>
              <a:buChar char="●"/>
            </a:pPr>
            <a:r>
              <a:rPr lang="en-GB" b="1">
                <a:solidFill>
                  <a:srgbClr val="000000"/>
                </a:solidFill>
                <a:latin typeface="Arial"/>
                <a:ea typeface="Arial"/>
                <a:cs typeface="Arial"/>
                <a:sym typeface="Arial"/>
              </a:rPr>
              <a:t>Indonesia Has the Highest Average Votes (772) </a:t>
            </a:r>
            <a:r>
              <a:rPr lang="en-GB">
                <a:solidFill>
                  <a:srgbClr val="000000"/>
                </a:solidFill>
                <a:latin typeface="Arial"/>
                <a:ea typeface="Arial"/>
                <a:cs typeface="Arial"/>
                <a:sym typeface="Arial"/>
              </a:rPr>
              <a:t>which suggest</a:t>
            </a:r>
            <a:r>
              <a:rPr lang="en-GB" b="1">
                <a:solidFill>
                  <a:srgbClr val="000000"/>
                </a:solidFill>
                <a:latin typeface="Arial"/>
                <a:ea typeface="Arial"/>
                <a:cs typeface="Arial"/>
                <a:sym typeface="Arial"/>
              </a:rPr>
              <a:t> higher engagement</a:t>
            </a:r>
            <a:r>
              <a:rPr lang="en-GB">
                <a:solidFill>
                  <a:srgbClr val="000000"/>
                </a:solidFill>
                <a:latin typeface="Arial"/>
                <a:ea typeface="Arial"/>
                <a:cs typeface="Arial"/>
                <a:sym typeface="Arial"/>
              </a:rPr>
              <a:t>, indicating a </a:t>
            </a:r>
            <a:r>
              <a:rPr lang="en-GB" b="1">
                <a:solidFill>
                  <a:srgbClr val="000000"/>
                </a:solidFill>
                <a:latin typeface="Arial"/>
                <a:ea typeface="Arial"/>
                <a:cs typeface="Arial"/>
                <a:sym typeface="Arial"/>
              </a:rPr>
              <a:t>strong food culture and active customer reviews.</a:t>
            </a:r>
            <a:endParaRPr b="1">
              <a:solidFill>
                <a:srgbClr val="000000"/>
              </a:solidFill>
              <a:latin typeface="Arial"/>
              <a:ea typeface="Arial"/>
              <a:cs typeface="Arial"/>
              <a:sym typeface="Arial"/>
            </a:endParaRPr>
          </a:p>
          <a:p>
            <a:pPr marL="457200" lvl="0" indent="-311150" algn="l" rtl="0">
              <a:spcBef>
                <a:spcPts val="0"/>
              </a:spcBef>
              <a:spcAft>
                <a:spcPts val="0"/>
              </a:spcAft>
              <a:buClr>
                <a:srgbClr val="000000"/>
              </a:buClr>
              <a:buSzPts val="1300"/>
              <a:buFont typeface="Arial"/>
              <a:buChar char="●"/>
            </a:pPr>
            <a:r>
              <a:rPr lang="en-GB" b="1">
                <a:solidFill>
                  <a:srgbClr val="000000"/>
                </a:solidFill>
                <a:latin typeface="Arial"/>
                <a:ea typeface="Arial"/>
                <a:cs typeface="Arial"/>
                <a:sym typeface="Arial"/>
              </a:rPr>
              <a:t>United Arab Emirates (493) &amp; Turkey (431) Also Show High Engagement. They have above-average customer voting patterns</a:t>
            </a:r>
            <a:r>
              <a:rPr lang="en-GB">
                <a:solidFill>
                  <a:srgbClr val="000000"/>
                </a:solidFill>
                <a:latin typeface="Arial"/>
                <a:ea typeface="Arial"/>
                <a:cs typeface="Arial"/>
                <a:sym typeface="Arial"/>
              </a:rPr>
              <a:t>, suggesting </a:t>
            </a:r>
            <a:r>
              <a:rPr lang="en-GB" b="1">
                <a:solidFill>
                  <a:srgbClr val="000000"/>
                </a:solidFill>
                <a:latin typeface="Arial"/>
                <a:ea typeface="Arial"/>
                <a:cs typeface="Arial"/>
                <a:sym typeface="Arial"/>
              </a:rPr>
              <a:t>strong customer interaction.</a:t>
            </a:r>
            <a:endParaRPr b="1">
              <a:solidFill>
                <a:srgbClr val="000000"/>
              </a:solidFill>
              <a:latin typeface="Arial"/>
              <a:ea typeface="Arial"/>
              <a:cs typeface="Arial"/>
              <a:sym typeface="Arial"/>
            </a:endParaRPr>
          </a:p>
          <a:p>
            <a:pPr marL="457200" lvl="0" indent="-311150" algn="l" rtl="0">
              <a:spcBef>
                <a:spcPts val="0"/>
              </a:spcBef>
              <a:spcAft>
                <a:spcPts val="0"/>
              </a:spcAft>
              <a:buClr>
                <a:srgbClr val="000000"/>
              </a:buClr>
              <a:buSzPts val="1300"/>
              <a:buFont typeface="Arial"/>
              <a:buChar char="●"/>
            </a:pPr>
            <a:r>
              <a:rPr lang="en-GB" b="1">
                <a:solidFill>
                  <a:srgbClr val="000000"/>
                </a:solidFill>
                <a:latin typeface="Arial"/>
                <a:ea typeface="Arial"/>
                <a:cs typeface="Arial"/>
                <a:sym typeface="Arial"/>
              </a:rPr>
              <a:t>India Has a Moderate Voting Average (137).</a:t>
            </a:r>
            <a:r>
              <a:rPr lang="en-GB">
                <a:solidFill>
                  <a:srgbClr val="000000"/>
                </a:solidFill>
                <a:latin typeface="Arial"/>
                <a:ea typeface="Arial"/>
                <a:cs typeface="Arial"/>
                <a:sym typeface="Arial"/>
              </a:rPr>
              <a:t>Despite </a:t>
            </a:r>
            <a:r>
              <a:rPr lang="en-GB" b="1">
                <a:solidFill>
                  <a:srgbClr val="000000"/>
                </a:solidFill>
                <a:latin typeface="Arial"/>
                <a:ea typeface="Arial"/>
                <a:cs typeface="Arial"/>
                <a:sym typeface="Arial"/>
              </a:rPr>
              <a:t>India having the most restaurants (8,652)</a:t>
            </a:r>
            <a:r>
              <a:rPr lang="en-GB">
                <a:solidFill>
                  <a:srgbClr val="000000"/>
                </a:solidFill>
                <a:latin typeface="Arial"/>
                <a:ea typeface="Arial"/>
                <a:cs typeface="Arial"/>
                <a:sym typeface="Arial"/>
              </a:rPr>
              <a:t>, the average votes per</a:t>
            </a:r>
            <a:r>
              <a:rPr lang="en-GB" b="1">
                <a:solidFill>
                  <a:srgbClr val="000000"/>
                </a:solidFill>
                <a:latin typeface="Arial"/>
                <a:ea typeface="Arial"/>
                <a:cs typeface="Arial"/>
                <a:sym typeface="Arial"/>
              </a:rPr>
              <a:t> </a:t>
            </a:r>
            <a:r>
              <a:rPr lang="en-GB">
                <a:solidFill>
                  <a:srgbClr val="000000"/>
                </a:solidFill>
                <a:latin typeface="Arial"/>
                <a:ea typeface="Arial"/>
                <a:cs typeface="Arial"/>
                <a:sym typeface="Arial"/>
              </a:rPr>
              <a:t>restaurant remain moderate.This suggests either a dispersed market or less customer engagement in voting.</a:t>
            </a:r>
            <a:endParaRPr>
              <a:solidFill>
                <a:srgbClr val="000000"/>
              </a:solidFill>
              <a:latin typeface="Arial"/>
              <a:ea typeface="Arial"/>
              <a:cs typeface="Arial"/>
              <a:sym typeface="Arial"/>
            </a:endParaRPr>
          </a:p>
          <a:p>
            <a:pPr marL="457200" lvl="0" indent="-311150" algn="l" rtl="0">
              <a:spcBef>
                <a:spcPts val="0"/>
              </a:spcBef>
              <a:spcAft>
                <a:spcPts val="0"/>
              </a:spcAft>
              <a:buClr>
                <a:srgbClr val="000000"/>
              </a:buClr>
              <a:buSzPts val="1300"/>
              <a:buFont typeface="Arial"/>
              <a:buChar char="●"/>
            </a:pPr>
            <a:r>
              <a:rPr lang="en-GB">
                <a:solidFill>
                  <a:srgbClr val="000000"/>
                </a:solidFill>
                <a:latin typeface="Arial"/>
                <a:ea typeface="Arial"/>
                <a:cs typeface="Arial"/>
                <a:sym typeface="Arial"/>
              </a:rPr>
              <a:t>Countries with Low Engagement: </a:t>
            </a:r>
            <a:r>
              <a:rPr lang="en-GB" b="1">
                <a:solidFill>
                  <a:srgbClr val="000000"/>
                </a:solidFill>
                <a:latin typeface="Arial"/>
                <a:ea typeface="Arial"/>
                <a:cs typeface="Arial"/>
                <a:sym typeface="Arial"/>
              </a:rPr>
              <a:t>Brazil (19), Singapore (31) </a:t>
            </a:r>
            <a:r>
              <a:rPr lang="en-GB">
                <a:solidFill>
                  <a:srgbClr val="000000"/>
                </a:solidFill>
                <a:latin typeface="Arial"/>
                <a:ea typeface="Arial"/>
                <a:cs typeface="Arial"/>
                <a:sym typeface="Arial"/>
              </a:rPr>
              <a:t>Brazil &amp; Singapore have the lowest average votes</a:t>
            </a:r>
            <a:endParaRPr>
              <a:solidFill>
                <a:srgbClr val="000000"/>
              </a:solidFill>
              <a:latin typeface="Arial"/>
              <a:ea typeface="Arial"/>
              <a:cs typeface="Arial"/>
              <a:sym typeface="Arial"/>
            </a:endParaRPr>
          </a:p>
          <a:p>
            <a:pPr marL="457200" lvl="0" indent="0" algn="l" rtl="0">
              <a:spcBef>
                <a:spcPts val="1200"/>
              </a:spcBef>
              <a:spcAft>
                <a:spcPts val="1200"/>
              </a:spcAft>
              <a:buNone/>
            </a:pPr>
            <a:endParaRPr sz="1100">
              <a:solidFill>
                <a:srgbClr val="000000"/>
              </a:solidFill>
              <a:latin typeface="Arial"/>
              <a:ea typeface="Arial"/>
              <a:cs typeface="Arial"/>
              <a:sym typeface="Arial"/>
            </a:endParaRPr>
          </a:p>
        </p:txBody>
      </p:sp>
      <p:pic>
        <p:nvPicPr>
          <p:cNvPr id="125" name="Google Shape;125;p22"/>
          <p:cNvPicPr preferRelativeResize="0"/>
          <p:nvPr/>
        </p:nvPicPr>
        <p:blipFill>
          <a:blip r:embed="rId3">
            <a:alphaModFix/>
          </a:blip>
          <a:stretch>
            <a:fillRect/>
          </a:stretch>
        </p:blipFill>
        <p:spPr>
          <a:xfrm>
            <a:off x="1160288" y="278500"/>
            <a:ext cx="2162175" cy="4543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pic>
        <p:nvPicPr>
          <p:cNvPr id="4098" name="Picture 2">
            <a:extLst>
              <a:ext uri="{FF2B5EF4-FFF2-40B4-BE49-F238E27FC236}">
                <a16:creationId xmlns:a16="http://schemas.microsoft.com/office/drawing/2014/main" id="{6B2C5191-C4CD-CB29-8240-D98386F7E3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74" y="103366"/>
            <a:ext cx="8183135" cy="47469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CE5CD"/>
        </a:solidFill>
        <a:effectLst/>
      </p:bgPr>
    </p:bg>
    <p:spTree>
      <p:nvGrpSpPr>
        <p:cNvPr id="1" name="Shape 139"/>
        <p:cNvGrpSpPr/>
        <p:nvPr/>
      </p:nvGrpSpPr>
      <p:grpSpPr>
        <a:xfrm>
          <a:off x="0" y="0"/>
          <a:ext cx="0" cy="0"/>
          <a:chOff x="0" y="0"/>
          <a:chExt cx="0" cy="0"/>
        </a:xfrm>
      </p:grpSpPr>
      <p:sp>
        <p:nvSpPr>
          <p:cNvPr id="140" name="Google Shape;140;p25"/>
          <p:cNvSpPr txBox="1"/>
          <p:nvPr/>
        </p:nvSpPr>
        <p:spPr>
          <a:xfrm>
            <a:off x="4571875" y="3086175"/>
            <a:ext cx="4259400" cy="169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300">
              <a:solidFill>
                <a:schemeClr val="dk2"/>
              </a:solidFill>
              <a:latin typeface="Roboto"/>
              <a:ea typeface="Roboto"/>
              <a:cs typeface="Roboto"/>
              <a:sym typeface="Roboto"/>
            </a:endParaRPr>
          </a:p>
        </p:txBody>
      </p:sp>
      <p:sp>
        <p:nvSpPr>
          <p:cNvPr id="141" name="Google Shape;141;p25"/>
          <p:cNvSpPr txBox="1"/>
          <p:nvPr/>
        </p:nvSpPr>
        <p:spPr>
          <a:xfrm>
            <a:off x="232050" y="72400"/>
            <a:ext cx="85491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GB" sz="1700" b="1"/>
              <a:t>Countries where the team can open newer restaurants with lesser competition</a:t>
            </a:r>
            <a:endParaRPr sz="1800" b="1">
              <a:solidFill>
                <a:schemeClr val="dk2"/>
              </a:solidFill>
              <a:latin typeface="Roboto"/>
              <a:ea typeface="Roboto"/>
              <a:cs typeface="Roboto"/>
              <a:sym typeface="Roboto"/>
            </a:endParaRPr>
          </a:p>
        </p:txBody>
      </p:sp>
      <p:sp>
        <p:nvSpPr>
          <p:cNvPr id="146" name="Google Shape;146;p25"/>
          <p:cNvSpPr txBox="1"/>
          <p:nvPr/>
        </p:nvSpPr>
        <p:spPr>
          <a:xfrm>
            <a:off x="529775" y="3910825"/>
            <a:ext cx="7965900" cy="1246465"/>
          </a:xfrm>
          <a:prstGeom prst="rect">
            <a:avLst/>
          </a:prstGeom>
          <a:noFill/>
          <a:ln>
            <a:noFill/>
          </a:ln>
        </p:spPr>
        <p:txBody>
          <a:bodyPr spcFirstLastPara="1" wrap="square" lIns="91425" tIns="91425" rIns="91425" bIns="91425" anchor="t" anchorCtr="0">
            <a:spAutoFit/>
          </a:bodyPr>
          <a:lstStyle/>
          <a:p>
            <a:pPr marL="457200" lvl="0" indent="0" algn="l" rtl="0">
              <a:lnSpc>
                <a:spcPct val="115000"/>
              </a:lnSpc>
              <a:spcBef>
                <a:spcPts val="0"/>
              </a:spcBef>
              <a:spcAft>
                <a:spcPts val="0"/>
              </a:spcAft>
              <a:buNone/>
            </a:pPr>
            <a:endParaRPr sz="1200" dirty="0"/>
          </a:p>
          <a:p>
            <a:pPr marL="457200" lvl="0" indent="0" algn="l" rtl="0">
              <a:lnSpc>
                <a:spcPct val="115000"/>
              </a:lnSpc>
              <a:spcBef>
                <a:spcPts val="0"/>
              </a:spcBef>
              <a:spcAft>
                <a:spcPts val="0"/>
              </a:spcAft>
              <a:buNone/>
            </a:pPr>
            <a:r>
              <a:rPr lang="en-GB" sz="1200" dirty="0"/>
              <a:t>The most suitable countries for opening new restaurants are those where:</a:t>
            </a:r>
            <a:endParaRPr sz="1200" dirty="0"/>
          </a:p>
          <a:p>
            <a:pPr marL="914400" lvl="0" indent="-304800" algn="l" rtl="0">
              <a:lnSpc>
                <a:spcPct val="115000"/>
              </a:lnSpc>
              <a:spcBef>
                <a:spcPts val="0"/>
              </a:spcBef>
              <a:spcAft>
                <a:spcPts val="0"/>
              </a:spcAft>
              <a:buSzPts val="1200"/>
              <a:buFont typeface="Noto Sans Symbols"/>
              <a:buChar char="●"/>
            </a:pPr>
            <a:r>
              <a:rPr lang="en-GB" sz="1200" dirty="0"/>
              <a:t>The average ratings are higher than 3.8.</a:t>
            </a:r>
            <a:endParaRPr sz="1200" dirty="0"/>
          </a:p>
          <a:p>
            <a:pPr marL="914400" lvl="0" indent="-304800" algn="l" rtl="0">
              <a:lnSpc>
                <a:spcPct val="115000"/>
              </a:lnSpc>
              <a:spcBef>
                <a:spcPts val="0"/>
              </a:spcBef>
              <a:spcAft>
                <a:spcPts val="0"/>
              </a:spcAft>
              <a:buSzPts val="1200"/>
              <a:buFont typeface="Noto Sans Symbols"/>
              <a:buChar char="●"/>
            </a:pPr>
            <a:r>
              <a:rPr lang="en-GB" sz="1200" dirty="0"/>
              <a:t>The total number of restaurants is less than 60.</a:t>
            </a:r>
            <a:endParaRPr sz="1200" dirty="0"/>
          </a:p>
          <a:p>
            <a:pPr marL="914400" lvl="0" indent="-304800" algn="l" rtl="0">
              <a:lnSpc>
                <a:spcPct val="115000"/>
              </a:lnSpc>
              <a:spcBef>
                <a:spcPts val="0"/>
              </a:spcBef>
              <a:spcAft>
                <a:spcPts val="0"/>
              </a:spcAft>
              <a:buSzPts val="1200"/>
              <a:buFont typeface="Noto Sans Symbols"/>
              <a:buChar char="●"/>
            </a:pPr>
            <a:r>
              <a:rPr lang="en-GB" sz="1200" dirty="0"/>
              <a:t>The average cost of two is less than 700 rupees.</a:t>
            </a:r>
            <a:endParaRPr dirty="0"/>
          </a:p>
        </p:txBody>
      </p:sp>
      <p:graphicFrame>
        <p:nvGraphicFramePr>
          <p:cNvPr id="2" name="Table 1">
            <a:extLst>
              <a:ext uri="{FF2B5EF4-FFF2-40B4-BE49-F238E27FC236}">
                <a16:creationId xmlns:a16="http://schemas.microsoft.com/office/drawing/2014/main" id="{3439DA7F-4215-361F-A7EC-E7307C38CDE4}"/>
              </a:ext>
            </a:extLst>
          </p:cNvPr>
          <p:cNvGraphicFramePr>
            <a:graphicFrameLocks noGrp="1"/>
          </p:cNvGraphicFramePr>
          <p:nvPr>
            <p:extLst>
              <p:ext uri="{D42A27DB-BD31-4B8C-83A1-F6EECF244321}">
                <p14:modId xmlns:p14="http://schemas.microsoft.com/office/powerpoint/2010/main" val="2062724895"/>
              </p:ext>
            </p:extLst>
          </p:nvPr>
        </p:nvGraphicFramePr>
        <p:xfrm>
          <a:off x="311150" y="492983"/>
          <a:ext cx="4865148" cy="1557595"/>
        </p:xfrm>
        <a:graphic>
          <a:graphicData uri="http://schemas.openxmlformats.org/drawingml/2006/table">
            <a:tbl>
              <a:tblPr firstRow="1" firstCol="1" bandRow="1">
                <a:tableStyleId>{5B828CDD-8E2C-4306-B83F-5B825E94FB31}</a:tableStyleId>
              </a:tblPr>
              <a:tblGrid>
                <a:gridCol w="1216287">
                  <a:extLst>
                    <a:ext uri="{9D8B030D-6E8A-4147-A177-3AD203B41FA5}">
                      <a16:colId xmlns:a16="http://schemas.microsoft.com/office/drawing/2014/main" val="529591655"/>
                    </a:ext>
                  </a:extLst>
                </a:gridCol>
                <a:gridCol w="1216287">
                  <a:extLst>
                    <a:ext uri="{9D8B030D-6E8A-4147-A177-3AD203B41FA5}">
                      <a16:colId xmlns:a16="http://schemas.microsoft.com/office/drawing/2014/main" val="1229094627"/>
                    </a:ext>
                  </a:extLst>
                </a:gridCol>
                <a:gridCol w="1216287">
                  <a:extLst>
                    <a:ext uri="{9D8B030D-6E8A-4147-A177-3AD203B41FA5}">
                      <a16:colId xmlns:a16="http://schemas.microsoft.com/office/drawing/2014/main" val="1793833836"/>
                    </a:ext>
                  </a:extLst>
                </a:gridCol>
                <a:gridCol w="1216287">
                  <a:extLst>
                    <a:ext uri="{9D8B030D-6E8A-4147-A177-3AD203B41FA5}">
                      <a16:colId xmlns:a16="http://schemas.microsoft.com/office/drawing/2014/main" val="2600873003"/>
                    </a:ext>
                  </a:extLst>
                </a:gridCol>
              </a:tblGrid>
              <a:tr h="398891">
                <a:tc>
                  <a:txBody>
                    <a:bodyPr/>
                    <a:lstStyle/>
                    <a:p>
                      <a:pPr marL="0" marR="0">
                        <a:lnSpc>
                          <a:spcPct val="115000"/>
                        </a:lnSpc>
                        <a:buNone/>
                      </a:pPr>
                      <a:r>
                        <a:rPr lang="en-US" sz="1200" kern="100" dirty="0">
                          <a:effectLst/>
                        </a:rPr>
                        <a:t>Country Name</a:t>
                      </a:r>
                      <a:endParaRPr lang="en-US" sz="1100" kern="100" dirty="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COUNTA of RestaurantID</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dirty="0">
                          <a:effectLst/>
                        </a:rPr>
                        <a:t>AVERAGE of Price in Rupees</a:t>
                      </a:r>
                      <a:endParaRPr lang="en-US" sz="1100" kern="100" dirty="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AVERAGE of Rating</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0" marR="0" marT="0" marB="0" anchor="b"/>
                </a:tc>
                <a:extLst>
                  <a:ext uri="{0D108BD9-81ED-4DB2-BD59-A6C34878D82A}">
                    <a16:rowId xmlns:a16="http://schemas.microsoft.com/office/drawing/2014/main" val="1757839202"/>
                  </a:ext>
                </a:extLst>
              </a:tr>
              <a:tr h="190610">
                <a:tc>
                  <a:txBody>
                    <a:bodyPr/>
                    <a:lstStyle/>
                    <a:p>
                      <a:pPr marL="0" marR="0">
                        <a:lnSpc>
                          <a:spcPct val="115000"/>
                        </a:lnSpc>
                        <a:buNone/>
                      </a:pPr>
                      <a:r>
                        <a:rPr lang="en-US" sz="1200" kern="100">
                          <a:effectLst/>
                        </a:rPr>
                        <a:t>Brazil</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60</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₹2,356.67</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3.846666667</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extLst>
                  <a:ext uri="{0D108BD9-81ED-4DB2-BD59-A6C34878D82A}">
                    <a16:rowId xmlns:a16="http://schemas.microsoft.com/office/drawing/2014/main" val="3944809973"/>
                  </a:ext>
                </a:extLst>
              </a:tr>
              <a:tr h="190610">
                <a:tc>
                  <a:txBody>
                    <a:bodyPr/>
                    <a:lstStyle/>
                    <a:p>
                      <a:pPr marL="0" marR="0">
                        <a:lnSpc>
                          <a:spcPct val="115000"/>
                        </a:lnSpc>
                        <a:buNone/>
                      </a:pPr>
                      <a:r>
                        <a:rPr lang="en-US" sz="1200" kern="100">
                          <a:effectLst/>
                        </a:rPr>
                        <a:t>Indonesia</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21</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₹1,518.43</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4.295238095</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extLst>
                  <a:ext uri="{0D108BD9-81ED-4DB2-BD59-A6C34878D82A}">
                    <a16:rowId xmlns:a16="http://schemas.microsoft.com/office/drawing/2014/main" val="535169518"/>
                  </a:ext>
                </a:extLst>
              </a:tr>
              <a:tr h="190610">
                <a:tc>
                  <a:txBody>
                    <a:bodyPr/>
                    <a:lstStyle/>
                    <a:p>
                      <a:pPr marL="0" marR="0">
                        <a:lnSpc>
                          <a:spcPct val="115000"/>
                        </a:lnSpc>
                        <a:buNone/>
                      </a:pPr>
                      <a:r>
                        <a:rPr lang="en-US" sz="1200" kern="100">
                          <a:effectLst/>
                        </a:rPr>
                        <a:t>South Africa</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60</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₹1,855.22</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4.21</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extLst>
                  <a:ext uri="{0D108BD9-81ED-4DB2-BD59-A6C34878D82A}">
                    <a16:rowId xmlns:a16="http://schemas.microsoft.com/office/drawing/2014/main" val="1881043114"/>
                  </a:ext>
                </a:extLst>
              </a:tr>
              <a:tr h="190610">
                <a:tc>
                  <a:txBody>
                    <a:bodyPr/>
                    <a:lstStyle/>
                    <a:p>
                      <a:pPr marL="0" marR="0">
                        <a:lnSpc>
                          <a:spcPct val="115000"/>
                        </a:lnSpc>
                        <a:buNone/>
                      </a:pPr>
                      <a:r>
                        <a:rPr lang="en-US" sz="1200" kern="100">
                          <a:effectLst/>
                        </a:rPr>
                        <a:t>Sri Lanka</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20</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₹617.50</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3.87</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extLst>
                  <a:ext uri="{0D108BD9-81ED-4DB2-BD59-A6C34878D82A}">
                    <a16:rowId xmlns:a16="http://schemas.microsoft.com/office/drawing/2014/main" val="3609785759"/>
                  </a:ext>
                </a:extLst>
              </a:tr>
              <a:tr h="190610">
                <a:tc>
                  <a:txBody>
                    <a:bodyPr/>
                    <a:lstStyle/>
                    <a:p>
                      <a:pPr marL="0" marR="0">
                        <a:lnSpc>
                          <a:spcPct val="115000"/>
                        </a:lnSpc>
                        <a:buNone/>
                      </a:pPr>
                      <a:r>
                        <a:rPr lang="en-US" sz="1200" kern="100">
                          <a:effectLst/>
                        </a:rPr>
                        <a:t>Turkey</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34</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₹261.35</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4.3</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extLst>
                  <a:ext uri="{0D108BD9-81ED-4DB2-BD59-A6C34878D82A}">
                    <a16:rowId xmlns:a16="http://schemas.microsoft.com/office/drawing/2014/main" val="2926146943"/>
                  </a:ext>
                </a:extLst>
              </a:tr>
              <a:tr h="190610">
                <a:tc>
                  <a:txBody>
                    <a:bodyPr/>
                    <a:lstStyle/>
                    <a:p>
                      <a:pPr marL="0" marR="0">
                        <a:lnSpc>
                          <a:spcPct val="115000"/>
                        </a:lnSpc>
                        <a:buNone/>
                      </a:pPr>
                      <a:r>
                        <a:rPr lang="en-US" sz="1200" kern="100">
                          <a:effectLst/>
                        </a:rPr>
                        <a:t>Grand Total</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195</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a:effectLst/>
                        </a:rPr>
                        <a:t>₹1,568.39</a:t>
                      </a:r>
                      <a:endParaRPr lang="en-US" sz="1100" kern="10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tc>
                  <a:txBody>
                    <a:bodyPr/>
                    <a:lstStyle/>
                    <a:p>
                      <a:pPr marL="0" marR="0">
                        <a:lnSpc>
                          <a:spcPct val="115000"/>
                        </a:lnSpc>
                        <a:buNone/>
                      </a:pPr>
                      <a:r>
                        <a:rPr lang="en-US" sz="1200" kern="100" dirty="0">
                          <a:effectLst/>
                        </a:rPr>
                        <a:t>4.088205128</a:t>
                      </a:r>
                      <a:endParaRPr lang="en-US" sz="1100" kern="100" dirty="0">
                        <a:effectLst/>
                        <a:latin typeface="Arial" panose="020B0604020202020204" pitchFamily="34" charset="0"/>
                        <a:ea typeface="Arial" panose="020B0604020202020204" pitchFamily="34" charset="0"/>
                        <a:cs typeface="Mangal" panose="02040503050203030202" pitchFamily="18" charset="0"/>
                      </a:endParaRPr>
                    </a:p>
                  </a:txBody>
                  <a:tcPr marL="28575" marR="28575" marT="0" marB="0" anchor="b"/>
                </a:tc>
                <a:extLst>
                  <a:ext uri="{0D108BD9-81ED-4DB2-BD59-A6C34878D82A}">
                    <a16:rowId xmlns:a16="http://schemas.microsoft.com/office/drawing/2014/main" val="1043225804"/>
                  </a:ext>
                </a:extLst>
              </a:tr>
            </a:tbl>
          </a:graphicData>
        </a:graphic>
      </p:graphicFrame>
      <p:pic>
        <p:nvPicPr>
          <p:cNvPr id="5122" name="Picture 2">
            <a:extLst>
              <a:ext uri="{FF2B5EF4-FFF2-40B4-BE49-F238E27FC236}">
                <a16:creationId xmlns:a16="http://schemas.microsoft.com/office/drawing/2014/main" id="{73D5E061-5209-0F3E-C367-598C244C24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51228" y="492982"/>
            <a:ext cx="3429922" cy="155759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C3D09596-ED2E-00EC-12D7-D2BC7FF201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149" y="2194061"/>
            <a:ext cx="4459633" cy="189145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EA2A0ECD-E2C3-0267-CC1C-1EB9A4150C2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6197" y="2194061"/>
            <a:ext cx="3974604" cy="18914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157"/>
        <p:cNvGrpSpPr/>
        <p:nvPr/>
      </p:nvGrpSpPr>
      <p:grpSpPr>
        <a:xfrm>
          <a:off x="0" y="0"/>
          <a:ext cx="0" cy="0"/>
          <a:chOff x="0" y="0"/>
          <a:chExt cx="0" cy="0"/>
        </a:xfrm>
      </p:grpSpPr>
      <p:sp>
        <p:nvSpPr>
          <p:cNvPr id="158" name="Google Shape;158;p27"/>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p>
            <a:pPr marL="457200" lvl="0" indent="0" algn="l" rtl="0">
              <a:lnSpc>
                <a:spcPct val="115000"/>
              </a:lnSpc>
              <a:spcBef>
                <a:spcPts val="0"/>
              </a:spcBef>
              <a:spcAft>
                <a:spcPts val="0"/>
              </a:spcAft>
              <a:buNone/>
            </a:pPr>
            <a:r>
              <a:rPr lang="en-GB" sz="2400">
                <a:latin typeface="Arial"/>
                <a:ea typeface="Arial"/>
                <a:cs typeface="Arial"/>
                <a:sym typeface="Arial"/>
              </a:rPr>
              <a:t>Current Quality regarding ratings for Restaurants</a:t>
            </a:r>
            <a:endParaRPr sz="4000"/>
          </a:p>
        </p:txBody>
      </p:sp>
      <p:sp>
        <p:nvSpPr>
          <p:cNvPr id="161" name="Google Shape;161;p27"/>
          <p:cNvSpPr txBox="1"/>
          <p:nvPr/>
        </p:nvSpPr>
        <p:spPr>
          <a:xfrm>
            <a:off x="-423296" y="4054138"/>
            <a:ext cx="4219241" cy="1628962"/>
          </a:xfrm>
          <a:prstGeom prst="rect">
            <a:avLst/>
          </a:prstGeom>
          <a:noFill/>
          <a:ln>
            <a:noFill/>
          </a:ln>
        </p:spPr>
        <p:txBody>
          <a:bodyPr spcFirstLastPara="1" wrap="square" lIns="91425" tIns="91425" rIns="91425" bIns="91425" anchor="t" anchorCtr="0">
            <a:noAutofit/>
          </a:bodyPr>
          <a:lstStyle/>
          <a:p>
            <a:pPr marL="457200" lvl="0" indent="-292100" algn="l" rtl="0">
              <a:lnSpc>
                <a:spcPct val="115000"/>
              </a:lnSpc>
              <a:spcBef>
                <a:spcPts val="0"/>
              </a:spcBef>
              <a:spcAft>
                <a:spcPts val="0"/>
              </a:spcAft>
              <a:buSzPts val="1000"/>
              <a:buChar char="●"/>
            </a:pPr>
            <a:endParaRPr lang="en-GB" sz="1000" dirty="0"/>
          </a:p>
        </p:txBody>
      </p:sp>
      <p:pic>
        <p:nvPicPr>
          <p:cNvPr id="2" name="Google Shape;159;p27"/>
          <p:cNvPicPr preferRelativeResize="0"/>
          <p:nvPr/>
        </p:nvPicPr>
        <p:blipFill>
          <a:blip r:embed="rId3">
            <a:alphaModFix/>
          </a:blip>
          <a:stretch>
            <a:fillRect/>
          </a:stretch>
        </p:blipFill>
        <p:spPr>
          <a:xfrm>
            <a:off x="0" y="1323649"/>
            <a:ext cx="5661329" cy="1230375"/>
          </a:xfrm>
          <a:prstGeom prst="rect">
            <a:avLst/>
          </a:prstGeom>
          <a:noFill/>
          <a:ln>
            <a:noFill/>
          </a:ln>
        </p:spPr>
      </p:pic>
      <p:pic>
        <p:nvPicPr>
          <p:cNvPr id="1028" name="Picture 4">
            <a:extLst>
              <a:ext uri="{FF2B5EF4-FFF2-40B4-BE49-F238E27FC236}">
                <a16:creationId xmlns:a16="http://schemas.microsoft.com/office/drawing/2014/main" id="{2C2E9BA1-3A2F-AAE3-CB19-FD91736A75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624739"/>
            <a:ext cx="5661329" cy="241638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2F41857-AF68-DBB1-D6BD-17234546A9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61329" y="1323649"/>
            <a:ext cx="3395207" cy="371747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EEDC"/>
        </a:solidFill>
        <a:effectLst/>
      </p:bgPr>
    </p:bg>
    <p:spTree>
      <p:nvGrpSpPr>
        <p:cNvPr id="1" name="Shape 204"/>
        <p:cNvGrpSpPr/>
        <p:nvPr/>
      </p:nvGrpSpPr>
      <p:grpSpPr>
        <a:xfrm>
          <a:off x="0" y="0"/>
          <a:ext cx="0" cy="0"/>
          <a:chOff x="0" y="0"/>
          <a:chExt cx="0" cy="0"/>
        </a:xfrm>
      </p:grpSpPr>
      <p:sp>
        <p:nvSpPr>
          <p:cNvPr id="205" name="Google Shape;205;p33"/>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GB"/>
              <a:t>Restaurant Distribution according to price range</a:t>
            </a:r>
            <a:endParaRPr/>
          </a:p>
        </p:txBody>
      </p:sp>
      <p:sp>
        <p:nvSpPr>
          <p:cNvPr id="206" name="Google Shape;206;p33"/>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208" name="Google Shape;208;p33"/>
          <p:cNvPicPr preferRelativeResize="0"/>
          <p:nvPr/>
        </p:nvPicPr>
        <p:blipFill>
          <a:blip r:embed="rId3">
            <a:alphaModFix/>
          </a:blip>
          <a:stretch>
            <a:fillRect/>
          </a:stretch>
        </p:blipFill>
        <p:spPr>
          <a:xfrm>
            <a:off x="143525" y="1264513"/>
            <a:ext cx="4688876" cy="1828800"/>
          </a:xfrm>
          <a:prstGeom prst="rect">
            <a:avLst/>
          </a:prstGeom>
          <a:noFill/>
          <a:ln>
            <a:noFill/>
          </a:ln>
        </p:spPr>
      </p:pic>
      <p:sp>
        <p:nvSpPr>
          <p:cNvPr id="210" name="Google Shape;210;p33"/>
          <p:cNvSpPr txBox="1"/>
          <p:nvPr/>
        </p:nvSpPr>
        <p:spPr>
          <a:xfrm>
            <a:off x="248300" y="3272325"/>
            <a:ext cx="8478000" cy="1605000"/>
          </a:xfrm>
          <a:prstGeom prst="rect">
            <a:avLst/>
          </a:prstGeom>
          <a:noFill/>
          <a:ln>
            <a:noFill/>
          </a:ln>
        </p:spPr>
        <p:txBody>
          <a:bodyPr spcFirstLastPara="1" wrap="square" lIns="91425" tIns="91425" rIns="91425" bIns="91425" anchor="t" anchorCtr="0">
            <a:noAutofit/>
          </a:bodyPr>
          <a:lstStyle/>
          <a:p>
            <a:pPr marL="457200" lvl="0" indent="0" algn="l" rtl="0">
              <a:lnSpc>
                <a:spcPct val="115000"/>
              </a:lnSpc>
              <a:spcBef>
                <a:spcPts val="0"/>
              </a:spcBef>
              <a:spcAft>
                <a:spcPts val="0"/>
              </a:spcAft>
              <a:buNone/>
            </a:pPr>
            <a:r>
              <a:rPr lang="en-GB" sz="1200"/>
              <a:t>Insights-</a:t>
            </a:r>
            <a:endParaRPr sz="1200"/>
          </a:p>
          <a:p>
            <a:pPr marL="914400" lvl="0" indent="-304800" algn="l" rtl="0">
              <a:lnSpc>
                <a:spcPct val="115000"/>
              </a:lnSpc>
              <a:spcBef>
                <a:spcPts val="0"/>
              </a:spcBef>
              <a:spcAft>
                <a:spcPts val="0"/>
              </a:spcAft>
              <a:buSzPts val="1200"/>
              <a:buChar char="●"/>
            </a:pPr>
            <a:r>
              <a:rPr lang="en-GB" sz="1200"/>
              <a:t>India Dominates the Low-Price Market</a:t>
            </a:r>
            <a:endParaRPr sz="1200"/>
          </a:p>
          <a:p>
            <a:pPr marL="914400" lvl="0" indent="-304800" algn="l" rtl="0">
              <a:lnSpc>
                <a:spcPct val="115000"/>
              </a:lnSpc>
              <a:spcBef>
                <a:spcPts val="0"/>
              </a:spcBef>
              <a:spcAft>
                <a:spcPts val="0"/>
              </a:spcAft>
              <a:buSzPts val="1200"/>
              <a:buChar char="●"/>
            </a:pPr>
            <a:r>
              <a:rPr lang="en-GB" sz="1200"/>
              <a:t>Premium Dining is More Common in Brazil, Qatar, Singapore, and South Africa have a higher proportion of high-end restaurants (Price Range 4).</a:t>
            </a:r>
            <a:endParaRPr sz="1200"/>
          </a:p>
          <a:p>
            <a:pPr marL="914400" lvl="0" indent="-304800" algn="l" rtl="0">
              <a:lnSpc>
                <a:spcPct val="115000"/>
              </a:lnSpc>
              <a:spcBef>
                <a:spcPts val="0"/>
              </a:spcBef>
              <a:spcAft>
                <a:spcPts val="0"/>
              </a:spcAft>
              <a:buSzPts val="1200"/>
              <a:buChar char="●"/>
            </a:pPr>
            <a:r>
              <a:rPr lang="en-GB" sz="1200"/>
              <a:t>Canada, Indonesia, Philippines, Qatar, and Singapore have very few or no restaurants in Price Range 1</a:t>
            </a:r>
            <a:endParaRPr sz="1200"/>
          </a:p>
          <a:p>
            <a:pPr marL="914400" lvl="0" indent="-304800" algn="l" rtl="0">
              <a:lnSpc>
                <a:spcPct val="115000"/>
              </a:lnSpc>
              <a:spcBef>
                <a:spcPts val="0"/>
              </a:spcBef>
              <a:spcAft>
                <a:spcPts val="0"/>
              </a:spcAft>
              <a:buSzPts val="1200"/>
              <a:buChar char="●"/>
            </a:pPr>
            <a:r>
              <a:rPr lang="en-GB" sz="1200"/>
              <a:t>The United States and the United Kingdom show a relatively balanced spread across all price ranges, indicating diverse customer preferences.</a:t>
            </a:r>
            <a:endParaRPr sz="1300">
              <a:solidFill>
                <a:schemeClr val="dk2"/>
              </a:solidFill>
              <a:latin typeface="Roboto"/>
              <a:ea typeface="Roboto"/>
              <a:cs typeface="Roboto"/>
              <a:sym typeface="Roboto"/>
            </a:endParaRPr>
          </a:p>
        </p:txBody>
      </p:sp>
      <p:pic>
        <p:nvPicPr>
          <p:cNvPr id="2050" name="Picture 2">
            <a:extLst>
              <a:ext uri="{FF2B5EF4-FFF2-40B4-BE49-F238E27FC236}">
                <a16:creationId xmlns:a16="http://schemas.microsoft.com/office/drawing/2014/main" id="{8DC85BD4-DA9D-4502-3875-F8A0DCF034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5802" y="1367624"/>
            <a:ext cx="4104674" cy="21786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CCCC"/>
        </a:solidFill>
        <a:effectLst/>
      </p:bgPr>
    </p:bg>
    <p:spTree>
      <p:nvGrpSpPr>
        <p:cNvPr id="1" name="Shape 214"/>
        <p:cNvGrpSpPr/>
        <p:nvPr/>
      </p:nvGrpSpPr>
      <p:grpSpPr>
        <a:xfrm>
          <a:off x="0" y="0"/>
          <a:ext cx="0" cy="0"/>
          <a:chOff x="0" y="0"/>
          <a:chExt cx="0" cy="0"/>
        </a:xfrm>
      </p:grpSpPr>
      <p:sp>
        <p:nvSpPr>
          <p:cNvPr id="215" name="Google Shape;215;p34"/>
          <p:cNvSpPr txBox="1">
            <a:spLocks noGrp="1"/>
          </p:cNvSpPr>
          <p:nvPr>
            <p:ph type="title"/>
          </p:nvPr>
        </p:nvSpPr>
        <p:spPr>
          <a:xfrm>
            <a:off x="1892542" y="-76593"/>
            <a:ext cx="5263500" cy="5799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GB"/>
              <a:t>DASHBOARD</a:t>
            </a:r>
            <a:endParaRPr/>
          </a:p>
        </p:txBody>
      </p:sp>
      <p:pic>
        <p:nvPicPr>
          <p:cNvPr id="6" name="Picture 5" descr="A screenshot of a computer&#10;&#10;AI-generated content may be incorrect.">
            <a:extLst>
              <a:ext uri="{FF2B5EF4-FFF2-40B4-BE49-F238E27FC236}">
                <a16:creationId xmlns:a16="http://schemas.microsoft.com/office/drawing/2014/main" id="{CB894950-064C-36DA-0170-50EAA989FD74}"/>
              </a:ext>
            </a:extLst>
          </p:cNvPr>
          <p:cNvPicPr>
            <a:picLocks noChangeAspect="1"/>
          </p:cNvPicPr>
          <p:nvPr/>
        </p:nvPicPr>
        <p:blipFill>
          <a:blip r:embed="rId3"/>
          <a:stretch>
            <a:fillRect/>
          </a:stretch>
        </p:blipFill>
        <p:spPr>
          <a:xfrm>
            <a:off x="1120140" y="409076"/>
            <a:ext cx="7107208" cy="455413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6"/>
          <p:cNvSpPr txBox="1">
            <a:spLocks noGrp="1"/>
          </p:cNvSpPr>
          <p:nvPr>
            <p:ph type="title"/>
          </p:nvPr>
        </p:nvSpPr>
        <p:spPr>
          <a:xfrm>
            <a:off x="2335500" y="701375"/>
            <a:ext cx="6247800" cy="35463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GB" dirty="0"/>
              <a:t>THANK YOU !!</a:t>
            </a:r>
            <a:endParaRPr dirty="0"/>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TotalTime>
  <Words>837</Words>
  <Application>Microsoft Office PowerPoint</Application>
  <PresentationFormat>On-screen Show (16:9)</PresentationFormat>
  <Paragraphs>78</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Merriweather</vt:lpstr>
      <vt:lpstr>Noto Sans Symbols</vt:lpstr>
      <vt:lpstr>Roboto</vt:lpstr>
      <vt:lpstr>Arial</vt:lpstr>
      <vt:lpstr>Paradigm</vt:lpstr>
      <vt:lpstr>Zomato Sales Analysis  Abhishek Kunwar</vt:lpstr>
      <vt:lpstr>PowerPoint Presentation</vt:lpstr>
      <vt:lpstr>PROBLEM STATEMENT</vt:lpstr>
      <vt:lpstr>PowerPoint Presentation</vt:lpstr>
      <vt:lpstr>Methodology</vt:lpstr>
      <vt:lpstr>No. of Restaurants opened in each city</vt:lpstr>
      <vt:lpstr>PowerPoint Presentation</vt:lpstr>
      <vt:lpstr>PowerPoint Presentation</vt:lpstr>
      <vt:lpstr>PowerPoint Presentation</vt:lpstr>
      <vt:lpstr>PowerPoint Presentation</vt:lpstr>
      <vt:lpstr>PowerPoint Presentation</vt:lpstr>
      <vt:lpstr>PowerPoint Presentation</vt:lpstr>
      <vt:lpstr>Current Quality regarding ratings for Restaurants</vt:lpstr>
      <vt:lpstr>Restaurant Distribution according to price range</vt:lpstr>
      <vt:lpstr>DASHBOARD</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Abhishek Kunwar</dc:creator>
  <cp:lastModifiedBy>Abhishek Kunwar</cp:lastModifiedBy>
  <cp:revision>7</cp:revision>
  <dcterms:modified xsi:type="dcterms:W3CDTF">2025-12-19T06:10:17Z</dcterms:modified>
</cp:coreProperties>
</file>